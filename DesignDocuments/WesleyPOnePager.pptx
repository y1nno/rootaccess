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BAAC90-530E-48EC-930B-FDFFACE7DD90}">
          <p14:sldIdLst>
            <p14:sldId id="261"/>
            <p14:sldId id="260"/>
            <p14:sldId id="262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5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E828-4C33-9336-3BED-D39A1BA98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6419E-09A5-0D29-B0E9-BE2EA4024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A858F-0DEC-AB6A-B53B-8893284C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1E9C0-CF0E-1E6B-1668-D9892543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2EE1-3F69-11C7-BB2D-DF2F380E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5594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937A3-DE36-34FD-9CDC-3262BB82B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1D604-1121-7103-70E7-8999EF5DE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7150E-77C3-FD7F-0D9F-1F5D0917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D880-9C19-1739-8578-72758C73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9FA0A-579C-8F76-DAC3-58407489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679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786F1-8DA0-A602-2B94-EA4AC2C52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38A22-D02C-0057-7E2E-DA989A9E5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AA3CB-93E7-9B21-5A68-905B9B5F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54E9B-B384-1B1B-0E77-6F848D22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A589C-F3EB-0F9E-8AE6-0628AB7D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592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C1626-8404-B1DB-EB8B-94968BCD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5102B-6FD6-FDF1-0463-F8F298602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F0B88-60E2-DA6D-9188-7AB7034F1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0D627-1A28-3B92-ED05-E8158F70F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70450-43C3-A884-8C24-B39763D20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AD3BA-4984-F37D-9478-1CD07320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361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C8C49-FEB5-8B19-29BF-7A5742CFE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EB32D-7A4A-E6D9-E861-1213E91F5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33416-B192-D779-6430-F8993CA3F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35F1FD-8627-0E20-90C5-6328C87F6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28223E-39CC-0CD1-67FF-C00D185A3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99451A-DA7D-B37E-1353-151F75BB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5A3A2-C0CD-8B7B-4348-F19E9D38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A5E802-8889-83CB-FCDA-9E8893E49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108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2F418-255D-A4C5-05C6-6D5EB9D6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CBF56-5589-46E5-D0B7-7E13487B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113E8-BFFB-C61C-49E9-62FB0EDB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AF9EA-7E72-0F85-5119-86347A1F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015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A1B977-E0F7-EA65-E801-E7DB3A4E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52530A-FB13-298C-4CB0-FBFD306E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00CB4-558D-9239-A4EF-63F8A716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91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C15E-3EDA-5AD9-9A03-CF3ED3BC9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CDAB2-8931-A9C9-1A0A-5076C3263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5F902-A216-DCF0-8045-E402DAF1F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7A04D-1431-3D04-9A12-51A23423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62EC5-43E0-EF76-0B8A-1A811F0D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FA57C-7146-8EF4-DD5A-19B97878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036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899A-B757-2FCE-6BEC-7E36C1FF6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F1E8B-293A-E83D-C044-8E82FEA62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2BDF8-A71E-6002-2120-D9956D57E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7BEB1-CA31-89E4-EE99-CB01DF2A7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0E689-6B64-0A25-9E53-790CF562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F8F08-B6B3-740B-C8A0-68318B96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101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D94-BDD3-E3C5-87B4-CDF0E517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84264-E0BD-6B43-AC70-AD2FA354B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DB7B-0D01-D6C6-B2CC-D4BC3D97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40D7C-4580-9C26-72D7-AE9A40B4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02A02-9EBC-0D58-826D-31100E65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6054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F164DE-6394-8890-5E6F-60DC02B38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EC5EA6-8DC6-015B-EE68-BD67BB404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2B93F-5F65-849C-BAF6-6E573FD2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11A39-CC19-CB24-2535-BA1266AD0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23E87-B3EC-BF4B-94A5-3C7D4659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1178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3C880-C79A-1535-8EA6-D0C07D47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06F4F-3731-DECD-13F4-C855B248A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1387B-7FE1-736F-2C0C-15B699170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FE9EE-F6D9-4553-B1AF-2966C370C31A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3BED6-B8F0-0924-DCFE-D12089477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1F052-547B-2BF5-3C2E-95799C91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F47DD-9510-498D-91ED-FA6BC18625C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045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e.steampowered.com/app/2827570/Ronnys_Climb/" TargetMode="External"/><Relationship Id="rId2" Type="http://schemas.openxmlformats.org/officeDocument/2006/relationships/hyperlink" Target="https://14collective.itch.io/solarpunk-platformer-tilese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3F5877B-98C7-49DD-83AB-0F6F57CB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2BBF69-EF1E-E023-4851-A11D38F17A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18" r="15684" b="1"/>
          <a:stretch>
            <a:fillRect/>
          </a:stretch>
        </p:blipFill>
        <p:spPr>
          <a:xfrm>
            <a:off x="7364078" y="-18"/>
            <a:ext cx="4827922" cy="6857999"/>
          </a:xfrm>
          <a:custGeom>
            <a:avLst/>
            <a:gdLst/>
            <a:ahLst/>
            <a:cxnLst/>
            <a:rect l="l" t="t" r="r" b="b"/>
            <a:pathLst>
              <a:path w="4827922" h="6858000">
                <a:moveTo>
                  <a:pt x="4441" y="0"/>
                </a:moveTo>
                <a:lnTo>
                  <a:pt x="4827922" y="0"/>
                </a:lnTo>
                <a:lnTo>
                  <a:pt x="4827922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B2FDDC-C372-13F7-FC0F-FD3B40125E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89" r="1301" b="-2"/>
          <a:stretch>
            <a:fillRect/>
          </a:stretch>
        </p:blipFill>
        <p:spPr>
          <a:xfrm>
            <a:off x="3167229" y="1"/>
            <a:ext cx="4966290" cy="6857999"/>
          </a:xfrm>
          <a:custGeom>
            <a:avLst/>
            <a:gdLst/>
            <a:ahLst/>
            <a:cxnLst/>
            <a:rect l="l" t="t" r="r" b="b"/>
            <a:pathLst>
              <a:path w="4966290" h="6857999">
                <a:moveTo>
                  <a:pt x="0" y="0"/>
                </a:moveTo>
                <a:lnTo>
                  <a:pt x="4188230" y="0"/>
                </a:lnTo>
                <a:lnTo>
                  <a:pt x="4295735" y="210478"/>
                </a:lnTo>
                <a:cubicBezTo>
                  <a:pt x="4719089" y="1127919"/>
                  <a:pt x="4966290" y="2233909"/>
                  <a:pt x="4966290" y="3424428"/>
                </a:cubicBezTo>
                <a:cubicBezTo>
                  <a:pt x="4966290" y="4614948"/>
                  <a:pt x="4719089" y="5720938"/>
                  <a:pt x="4295735" y="6638378"/>
                </a:cubicBezTo>
                <a:lnTo>
                  <a:pt x="4183560" y="6857999"/>
                </a:lnTo>
                <a:lnTo>
                  <a:pt x="53039" y="6857999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</p:spPr>
      </p:pic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4EA91930-66BC-4C41-B4F5-C31EB216F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313CF8F-B436-401E-9575-DE0F8E8B5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38CFE9-C30A-4551-ACCB-D5808FBC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2EA0F-0BB0-57CF-6CD8-77FC5517C109}"/>
              </a:ext>
            </a:extLst>
          </p:cNvPr>
          <p:cNvSpPr txBox="1"/>
          <p:nvPr/>
        </p:nvSpPr>
        <p:spPr>
          <a:xfrm>
            <a:off x="448056" y="2258171"/>
            <a:ext cx="2804504" cy="3918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1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Scientists Eli and Olivia are working on creating more of the digital code that humanity uses to accelerate crop production at a facility known as The Homestead.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After a breakthrough in the process, the once benign plants begin to corrupt and attack everything in sight. 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Create a 2D platformer based on the final act of the story, where Eli and Olivia must traverse a forest teeming with corruption to reach a radio tower capable of broadcasting the kill code for the plants.</a:t>
            </a:r>
          </a:p>
        </p:txBody>
      </p:sp>
    </p:spTree>
    <p:extLst>
      <p:ext uri="{BB962C8B-B14F-4D97-AF65-F5344CB8AC3E}">
        <p14:creationId xmlns:p14="http://schemas.microsoft.com/office/powerpoint/2010/main" val="327146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2" name="Rectangle 2071">
            <a:extLst>
              <a:ext uri="{FF2B5EF4-FFF2-40B4-BE49-F238E27FC236}">
                <a16:creationId xmlns:a16="http://schemas.microsoft.com/office/drawing/2014/main" id="{114C78B5-EC6B-4A39-8860-705100867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CC160-BB69-C07D-150D-9B99AAAF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9978"/>
            <a:ext cx="4391024" cy="1173700"/>
          </a:xfrm>
        </p:spPr>
        <p:txBody>
          <a:bodyPr anchor="t"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Gameplay precedent</a:t>
            </a:r>
            <a:endParaRPr lang="en-CA" sz="3700">
              <a:solidFill>
                <a:schemeClr val="bg1"/>
              </a:solidFill>
            </a:endParaRPr>
          </a:p>
        </p:txBody>
      </p:sp>
      <p:pic>
        <p:nvPicPr>
          <p:cNvPr id="2052" name="Picture 4" descr="Hollow Knight on Steam">
            <a:extLst>
              <a:ext uri="{FF2B5EF4-FFF2-40B4-BE49-F238E27FC236}">
                <a16:creationId xmlns:a16="http://schemas.microsoft.com/office/drawing/2014/main" id="{72EA10AC-4BD0-0D33-FA39-5912CDF66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83" r="5566" b="1"/>
          <a:stretch>
            <a:fillRect/>
          </a:stretch>
        </p:blipFill>
        <p:spPr bwMode="auto">
          <a:xfrm>
            <a:off x="20" y="10"/>
            <a:ext cx="4000480" cy="3904882"/>
          </a:xfrm>
          <a:custGeom>
            <a:avLst/>
            <a:gdLst/>
            <a:ahLst/>
            <a:cxnLst/>
            <a:rect l="l" t="t" r="r" b="b"/>
            <a:pathLst>
              <a:path w="4000500" h="3413410">
                <a:moveTo>
                  <a:pt x="0" y="0"/>
                </a:moveTo>
                <a:lnTo>
                  <a:pt x="4000500" y="0"/>
                </a:lnTo>
                <a:lnTo>
                  <a:pt x="4000500" y="3330603"/>
                </a:lnTo>
                <a:lnTo>
                  <a:pt x="416174" y="3413410"/>
                </a:lnTo>
                <a:lnTo>
                  <a:pt x="0" y="340816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uper Metroid | Super Nintendo | Games | Nintendo UK">
            <a:extLst>
              <a:ext uri="{FF2B5EF4-FFF2-40B4-BE49-F238E27FC236}">
                <a16:creationId xmlns:a16="http://schemas.microsoft.com/office/drawing/2014/main" id="{B616EFE0-4C52-A45A-B790-891D2B6F6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7" r="29867" b="-2"/>
          <a:stretch>
            <a:fillRect/>
          </a:stretch>
        </p:blipFill>
        <p:spPr bwMode="auto">
          <a:xfrm>
            <a:off x="4191002" y="10"/>
            <a:ext cx="3809998" cy="3904881"/>
          </a:xfrm>
          <a:custGeom>
            <a:avLst/>
            <a:gdLst/>
            <a:ahLst/>
            <a:cxnLst/>
            <a:rect l="l" t="t" r="r" b="b"/>
            <a:pathLst>
              <a:path w="3809998" h="3361533">
                <a:moveTo>
                  <a:pt x="0" y="0"/>
                </a:moveTo>
                <a:lnTo>
                  <a:pt x="3809998" y="0"/>
                </a:lnTo>
                <a:lnTo>
                  <a:pt x="3809998" y="3353206"/>
                </a:lnTo>
                <a:lnTo>
                  <a:pt x="1781628" y="3181423"/>
                </a:lnTo>
                <a:lnTo>
                  <a:pt x="0" y="336153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mazon.com: Monster House : Video Games">
            <a:extLst>
              <a:ext uri="{FF2B5EF4-FFF2-40B4-BE49-F238E27FC236}">
                <a16:creationId xmlns:a16="http://schemas.microsoft.com/office/drawing/2014/main" id="{048751A6-F1C5-E16C-1FC6-B6FEE5454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"/>
          <a:stretch>
            <a:fillRect/>
          </a:stretch>
        </p:blipFill>
        <p:spPr bwMode="auto">
          <a:xfrm>
            <a:off x="8191500" y="-1"/>
            <a:ext cx="4000500" cy="4008409"/>
          </a:xfrm>
          <a:custGeom>
            <a:avLst/>
            <a:gdLst/>
            <a:ahLst/>
            <a:cxnLst/>
            <a:rect l="l" t="t" r="r" b="b"/>
            <a:pathLst>
              <a:path w="4000500" h="3403026">
                <a:moveTo>
                  <a:pt x="0" y="0"/>
                </a:moveTo>
                <a:lnTo>
                  <a:pt x="4000500" y="0"/>
                </a:lnTo>
                <a:lnTo>
                  <a:pt x="4000500" y="3403026"/>
                </a:lnTo>
                <a:lnTo>
                  <a:pt x="9072" y="3370108"/>
                </a:lnTo>
                <a:lnTo>
                  <a:pt x="0" y="336934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74" name="Group 2073">
            <a:extLst>
              <a:ext uri="{FF2B5EF4-FFF2-40B4-BE49-F238E27FC236}">
                <a16:creationId xmlns:a16="http://schemas.microsoft.com/office/drawing/2014/main" id="{A50943B0-FDF7-4C2C-B784-9208C945A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2075" name="Freeform: Shape 2074">
              <a:extLst>
                <a:ext uri="{FF2B5EF4-FFF2-40B4-BE49-F238E27FC236}">
                  <a16:creationId xmlns:a16="http://schemas.microsoft.com/office/drawing/2014/main" id="{64021FAB-FA86-49DE-8FC9-585A1729B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76" name="Freeform: Shape 2075">
              <a:extLst>
                <a:ext uri="{FF2B5EF4-FFF2-40B4-BE49-F238E27FC236}">
                  <a16:creationId xmlns:a16="http://schemas.microsoft.com/office/drawing/2014/main" id="{7B58B526-A432-4EB5-AA70-2BB897257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5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058" name="Content Placeholder 2057">
            <a:extLst>
              <a:ext uri="{FF2B5EF4-FFF2-40B4-BE49-F238E27FC236}">
                <a16:creationId xmlns:a16="http://schemas.microsoft.com/office/drawing/2014/main" id="{10A9E91C-C27D-381E-86EC-AE148F281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1" y="4766267"/>
            <a:ext cx="5692774" cy="1077411"/>
          </a:xfrm>
        </p:spPr>
        <p:txBody>
          <a:bodyPr>
            <a:normAutofit/>
          </a:bodyPr>
          <a:lstStyle/>
          <a:p>
            <a:r>
              <a:rPr lang="en-US" sz="1100">
                <a:solidFill>
                  <a:schemeClr val="bg1">
                    <a:alpha val="80000"/>
                  </a:schemeClr>
                </a:solidFill>
              </a:rPr>
              <a:t>Non-linear progression</a:t>
            </a:r>
          </a:p>
          <a:p>
            <a:r>
              <a:rPr lang="en-US" sz="1100">
                <a:solidFill>
                  <a:schemeClr val="bg1">
                    <a:alpha val="80000"/>
                  </a:schemeClr>
                </a:solidFill>
              </a:rPr>
              <a:t>Skill/Knowledge/Ability gates for progression</a:t>
            </a:r>
          </a:p>
          <a:p>
            <a:r>
              <a:rPr lang="en-US" sz="1100">
                <a:solidFill>
                  <a:schemeClr val="bg1">
                    <a:alpha val="80000"/>
                  </a:schemeClr>
                </a:solidFill>
              </a:rPr>
              <a:t>Evolving relationship with the world</a:t>
            </a:r>
          </a:p>
          <a:p>
            <a:r>
              <a:rPr lang="en-US" sz="1100">
                <a:solidFill>
                  <a:schemeClr val="bg1">
                    <a:alpha val="80000"/>
                  </a:schemeClr>
                </a:solidFill>
              </a:rPr>
              <a:t>Character swapping</a:t>
            </a:r>
          </a:p>
        </p:txBody>
      </p:sp>
    </p:spTree>
    <p:extLst>
      <p:ext uri="{BB962C8B-B14F-4D97-AF65-F5344CB8AC3E}">
        <p14:creationId xmlns:p14="http://schemas.microsoft.com/office/powerpoint/2010/main" val="1084668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Delay 5">
            <a:extLst>
              <a:ext uri="{FF2B5EF4-FFF2-40B4-BE49-F238E27FC236}">
                <a16:creationId xmlns:a16="http://schemas.microsoft.com/office/drawing/2014/main" id="{0EAF7EEF-16EC-B0C1-448D-5A33739C7FA9}"/>
              </a:ext>
            </a:extLst>
          </p:cNvPr>
          <p:cNvSpPr/>
          <p:nvPr/>
        </p:nvSpPr>
        <p:spPr>
          <a:xfrm flipH="1">
            <a:off x="8547149" y="1158117"/>
            <a:ext cx="1095375" cy="1340644"/>
          </a:xfrm>
          <a:prstGeom prst="flowChartDelay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Flowchart: Delay 4">
            <a:extLst>
              <a:ext uri="{FF2B5EF4-FFF2-40B4-BE49-F238E27FC236}">
                <a16:creationId xmlns:a16="http://schemas.microsoft.com/office/drawing/2014/main" id="{D24DAB41-B207-E55F-4623-9EECA4A91362}"/>
              </a:ext>
            </a:extLst>
          </p:cNvPr>
          <p:cNvSpPr/>
          <p:nvPr/>
        </p:nvSpPr>
        <p:spPr>
          <a:xfrm>
            <a:off x="11011004" y="1158117"/>
            <a:ext cx="1095375" cy="1340644"/>
          </a:xfrm>
          <a:prstGeom prst="flowChartDelay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 descr="A pixel art of a couple of people&#10;&#10;AI-generated content may be incorrect.">
            <a:extLst>
              <a:ext uri="{FF2B5EF4-FFF2-40B4-BE49-F238E27FC236}">
                <a16:creationId xmlns:a16="http://schemas.microsoft.com/office/drawing/2014/main" id="{BB86A6FC-8B9C-AC43-3AE6-31E643785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9201096" y="1421536"/>
            <a:ext cx="441428" cy="8828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71B0B3-4EE3-6C8D-9B2B-445691DFB76D}"/>
              </a:ext>
            </a:extLst>
          </p:cNvPr>
          <p:cNvSpPr txBox="1"/>
          <p:nvPr/>
        </p:nvSpPr>
        <p:spPr>
          <a:xfrm>
            <a:off x="11061008" y="1240441"/>
            <a:ext cx="4476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Eli</a:t>
            </a:r>
            <a:endParaRPr lang="en-CA" sz="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B509D-17BC-2324-1B31-0CCFE8321786}"/>
              </a:ext>
            </a:extLst>
          </p:cNvPr>
          <p:cNvSpPr txBox="1"/>
          <p:nvPr/>
        </p:nvSpPr>
        <p:spPr>
          <a:xfrm>
            <a:off x="9169848" y="1240345"/>
            <a:ext cx="500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Olivia</a:t>
            </a:r>
            <a:endParaRPr lang="en-CA" sz="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9C368-4863-9927-9918-72832E6E4FF9}"/>
              </a:ext>
            </a:extLst>
          </p:cNvPr>
          <p:cNvSpPr txBox="1"/>
          <p:nvPr/>
        </p:nvSpPr>
        <p:spPr>
          <a:xfrm>
            <a:off x="11388723" y="1355134"/>
            <a:ext cx="5524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Ability 1</a:t>
            </a:r>
          </a:p>
          <a:p>
            <a:r>
              <a:rPr lang="en-US" sz="600" dirty="0"/>
              <a:t>Double Jump</a:t>
            </a:r>
          </a:p>
          <a:p>
            <a:endParaRPr lang="en-US" sz="600" dirty="0"/>
          </a:p>
          <a:p>
            <a:r>
              <a:rPr lang="en-US" sz="600" b="1" dirty="0"/>
              <a:t>Ability 2 </a:t>
            </a:r>
            <a:r>
              <a:rPr lang="en-US" sz="600" dirty="0"/>
              <a:t>Kick</a:t>
            </a:r>
          </a:p>
          <a:p>
            <a:endParaRPr lang="en-US" sz="600" dirty="0"/>
          </a:p>
          <a:p>
            <a:r>
              <a:rPr lang="en-US" sz="600" b="1" dirty="0"/>
              <a:t>Ability 3 </a:t>
            </a:r>
            <a:r>
              <a:rPr lang="en-US" sz="600" dirty="0"/>
              <a:t>Directional Dash</a:t>
            </a:r>
            <a:endParaRPr lang="en-CA" sz="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5DBF7-5752-EB10-BA2E-082F873D74A8}"/>
              </a:ext>
            </a:extLst>
          </p:cNvPr>
          <p:cNvSpPr txBox="1"/>
          <p:nvPr/>
        </p:nvSpPr>
        <p:spPr>
          <a:xfrm>
            <a:off x="8779175" y="1344417"/>
            <a:ext cx="597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Ability 1</a:t>
            </a:r>
          </a:p>
          <a:p>
            <a:r>
              <a:rPr lang="en-US" sz="600" dirty="0"/>
              <a:t>Ranged Projectile</a:t>
            </a:r>
          </a:p>
          <a:p>
            <a:endParaRPr lang="en-US" sz="600" dirty="0"/>
          </a:p>
          <a:p>
            <a:r>
              <a:rPr lang="en-US" sz="600" b="1" dirty="0"/>
              <a:t>Ability 2 </a:t>
            </a:r>
            <a:r>
              <a:rPr lang="en-US" sz="600" dirty="0"/>
              <a:t>Corruption Cleanser</a:t>
            </a:r>
          </a:p>
          <a:p>
            <a:endParaRPr lang="en-US" sz="600" dirty="0"/>
          </a:p>
          <a:p>
            <a:r>
              <a:rPr lang="en-US" sz="600" b="1" dirty="0"/>
              <a:t>Ability 3 </a:t>
            </a:r>
            <a:r>
              <a:rPr lang="en-US" sz="600" dirty="0"/>
              <a:t>Hacking</a:t>
            </a:r>
            <a:endParaRPr lang="en-CA" sz="600" dirty="0"/>
          </a:p>
        </p:txBody>
      </p:sp>
      <p:pic>
        <p:nvPicPr>
          <p:cNvPr id="11" name="Picture 10" descr="A pixel art of a couple of people">
            <a:extLst>
              <a:ext uri="{FF2B5EF4-FFF2-40B4-BE49-F238E27FC236}">
                <a16:creationId xmlns:a16="http://schemas.microsoft.com/office/drawing/2014/main" id="{824A0378-DD9E-B75C-8DF0-A423738D9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1"/>
          <a:stretch>
            <a:fillRect/>
          </a:stretch>
        </p:blipFill>
        <p:spPr>
          <a:xfrm>
            <a:off x="11020367" y="1421536"/>
            <a:ext cx="432066" cy="882860"/>
          </a:xfrm>
          <a:prstGeom prst="rect">
            <a:avLst/>
          </a:prstGeom>
        </p:spPr>
      </p:pic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1275C287-A020-E01F-8D40-75EE0D144B67}"/>
              </a:ext>
            </a:extLst>
          </p:cNvPr>
          <p:cNvSpPr/>
          <p:nvPr/>
        </p:nvSpPr>
        <p:spPr>
          <a:xfrm>
            <a:off x="9683168" y="1755243"/>
            <a:ext cx="1271586" cy="215444"/>
          </a:xfrm>
          <a:prstGeom prst="leftRight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780346-56D3-D814-7566-3DEB6A190871}"/>
              </a:ext>
            </a:extLst>
          </p:cNvPr>
          <p:cNvSpPr txBox="1"/>
          <p:nvPr/>
        </p:nvSpPr>
        <p:spPr>
          <a:xfrm>
            <a:off x="9701894" y="1075723"/>
            <a:ext cx="1262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Character Swapping</a:t>
            </a:r>
            <a:endParaRPr lang="en-CA" sz="1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9CECEE-7055-9C9F-1F49-CE8B915B2EF4}"/>
              </a:ext>
            </a:extLst>
          </p:cNvPr>
          <p:cNvSpPr txBox="1"/>
          <p:nvPr/>
        </p:nvSpPr>
        <p:spPr>
          <a:xfrm>
            <a:off x="205740" y="105846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Root Access</a:t>
            </a:r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04C38A-A66B-BBB6-033F-AE653951DC2A}"/>
              </a:ext>
            </a:extLst>
          </p:cNvPr>
          <p:cNvSpPr txBox="1"/>
          <p:nvPr/>
        </p:nvSpPr>
        <p:spPr>
          <a:xfrm>
            <a:off x="205740" y="391358"/>
            <a:ext cx="44894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CA" sz="1200" dirty="0"/>
              <a:t>Root Access is a single player action-platformer </a:t>
            </a:r>
            <a:r>
              <a:rPr lang="en-CA" sz="1200" dirty="0" err="1"/>
              <a:t>metroidvania</a:t>
            </a:r>
            <a:r>
              <a:rPr lang="en-CA" sz="1200" dirty="0"/>
              <a:t> where two scientists navigate their way through a corrupted forest and up a radio tower, swapping quickly between Olivia’s tech focused utility and Eli’s acrobatic traversal abilities to put a stop to the spreading anomalies.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9628732-2ABC-A11D-2FF4-81CA76345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477" y="1964575"/>
            <a:ext cx="9642524" cy="489342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F85DDF2-943B-45C6-AC13-4A2BB987F50E}"/>
              </a:ext>
            </a:extLst>
          </p:cNvPr>
          <p:cNvSpPr txBox="1"/>
          <p:nvPr/>
        </p:nvSpPr>
        <p:spPr>
          <a:xfrm>
            <a:off x="436880" y="1976436"/>
            <a:ext cx="3931920" cy="3416320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sz="1200" b="1" dirty="0"/>
              <a:t>Relationship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Not only are Eli and Oliva in love, but they also cannot reach the tower by themselves, they need to work together</a:t>
            </a:r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en-US" sz="1200" b="1" dirty="0"/>
              <a:t>Dynamic World</a:t>
            </a:r>
          </a:p>
          <a:p>
            <a:r>
              <a:rPr lang="en-US" sz="1200" b="1" dirty="0"/>
              <a:t> 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The world is changing over time, increasing and decreasing in corruption, and the player’s relationship with the world is changing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en-US" sz="1200" b="1" dirty="0"/>
              <a:t>Climactic  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The game is the end of a longer story, the player gets a sense of the history and the importance of the present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5C8F44-4D90-0272-6154-068DAF9AE64D}"/>
              </a:ext>
            </a:extLst>
          </p:cNvPr>
          <p:cNvSpPr txBox="1"/>
          <p:nvPr/>
        </p:nvSpPr>
        <p:spPr>
          <a:xfrm>
            <a:off x="9655279" y="66969"/>
            <a:ext cx="2451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1200" b="1" dirty="0"/>
              <a:t>Platform:</a:t>
            </a:r>
            <a:r>
              <a:rPr lang="en-CA" sz="1200" dirty="0"/>
              <a:t> PC</a:t>
            </a:r>
            <a:endParaRPr lang="en-CA" sz="1200" b="0" dirty="0">
              <a:effectLst/>
            </a:endParaRPr>
          </a:p>
          <a:p>
            <a:pPr algn="r"/>
            <a:r>
              <a:rPr lang="en-CA" sz="1200" b="1" dirty="0"/>
              <a:t>Engine: </a:t>
            </a:r>
            <a:r>
              <a:rPr lang="en-CA" sz="1200" dirty="0"/>
              <a:t>Unity</a:t>
            </a:r>
            <a:endParaRPr lang="en-CA" sz="1200" dirty="0">
              <a:effectLst/>
            </a:endParaRPr>
          </a:p>
          <a:p>
            <a:pPr algn="r"/>
            <a:r>
              <a:rPr lang="en-CA" sz="1200" b="1" dirty="0"/>
              <a:t>Genre:</a:t>
            </a:r>
            <a:r>
              <a:rPr lang="en-CA" sz="1200" dirty="0"/>
              <a:t> Action- Platformer </a:t>
            </a:r>
            <a:r>
              <a:rPr lang="en-CA" sz="1200" dirty="0" err="1"/>
              <a:t>Metroidvania</a:t>
            </a:r>
            <a:endParaRPr lang="en-CA" sz="1200" b="0" dirty="0">
              <a:effectLst/>
            </a:endParaRPr>
          </a:p>
          <a:p>
            <a:pPr algn="r"/>
            <a:r>
              <a:rPr lang="en-CA" sz="1200" b="1" dirty="0"/>
              <a:t>Release Date:</a:t>
            </a:r>
            <a:r>
              <a:rPr lang="en-CA" sz="1200" i="1" dirty="0"/>
              <a:t> </a:t>
            </a:r>
            <a:r>
              <a:rPr lang="en-CA" sz="1200" dirty="0"/>
              <a:t>12/20/25</a:t>
            </a:r>
            <a:endParaRPr lang="en-CA" sz="1200" b="0" dirty="0">
              <a:effectLst/>
            </a:endParaRPr>
          </a:p>
          <a:p>
            <a:pPr algn="r"/>
            <a:endParaRPr lang="en-CA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E2D519-CC10-78DF-BB2E-9486673B815F}"/>
              </a:ext>
            </a:extLst>
          </p:cNvPr>
          <p:cNvSpPr txBox="1"/>
          <p:nvPr/>
        </p:nvSpPr>
        <p:spPr>
          <a:xfrm>
            <a:off x="4854978" y="706685"/>
            <a:ext cx="3838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Objectives</a:t>
            </a:r>
          </a:p>
          <a:p>
            <a:pPr marL="342900" indent="-342900" algn="just">
              <a:buAutoNum type="arabicParenR"/>
            </a:pPr>
            <a:r>
              <a:rPr lang="en-US" sz="1200" dirty="0"/>
              <a:t>MVP complete 	</a:t>
            </a:r>
            <a:r>
              <a:rPr lang="en-US" sz="1200" i="1" dirty="0"/>
              <a:t>Does it work?</a:t>
            </a:r>
          </a:p>
          <a:p>
            <a:pPr marL="342900" indent="-342900" algn="just">
              <a:buAutoNum type="arabicParenR"/>
            </a:pPr>
            <a:r>
              <a:rPr lang="en-US" sz="1200" dirty="0"/>
              <a:t>Prompt Adherent 	</a:t>
            </a:r>
            <a:r>
              <a:rPr lang="en-US" sz="1200" i="1" dirty="0"/>
              <a:t>Does it match the prompt?</a:t>
            </a:r>
          </a:p>
          <a:p>
            <a:pPr marL="342900" indent="-342900" algn="just">
              <a:buAutoNum type="arabicParenR"/>
            </a:pPr>
            <a:r>
              <a:rPr lang="en-CA" sz="1200" dirty="0"/>
              <a:t>Genre features</a:t>
            </a:r>
            <a:r>
              <a:rPr lang="en-CA" sz="1200" i="1" dirty="0"/>
              <a:t> 	Is it a good </a:t>
            </a:r>
            <a:r>
              <a:rPr lang="en-CA" sz="1200" i="1" dirty="0" err="1"/>
              <a:t>metroidvania</a:t>
            </a:r>
            <a:r>
              <a:rPr lang="en-CA" sz="1200" i="1" dirty="0"/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A7B754-80E2-24EE-6D36-F1DD163B5A08}"/>
              </a:ext>
            </a:extLst>
          </p:cNvPr>
          <p:cNvSpPr txBox="1"/>
          <p:nvPr/>
        </p:nvSpPr>
        <p:spPr>
          <a:xfrm>
            <a:off x="1564640" y="1730633"/>
            <a:ext cx="167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Pillars</a:t>
            </a:r>
            <a:endParaRPr lang="en-CA" sz="1200" b="1" dirty="0"/>
          </a:p>
        </p:txBody>
      </p:sp>
      <p:pic>
        <p:nvPicPr>
          <p:cNvPr id="29" name="Picture 28" descr="A pixel art of a black antlers and a black background&#10;&#10;AI-generated content may be incorrect.">
            <a:extLst>
              <a:ext uri="{FF2B5EF4-FFF2-40B4-BE49-F238E27FC236}">
                <a16:creationId xmlns:a16="http://schemas.microsoft.com/office/drawing/2014/main" id="{36FC4F54-0804-8235-9DE1-1A041E9D20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716" y="4254954"/>
            <a:ext cx="2497200" cy="2497200"/>
          </a:xfrm>
          <a:prstGeom prst="rect">
            <a:avLst/>
          </a:prstGeom>
        </p:spPr>
      </p:pic>
      <p:pic>
        <p:nvPicPr>
          <p:cNvPr id="30" name="Picture 29" descr="A pixel art of a video game&#10;&#10;AI-generated content may be incorrect.">
            <a:extLst>
              <a:ext uri="{FF2B5EF4-FFF2-40B4-BE49-F238E27FC236}">
                <a16:creationId xmlns:a16="http://schemas.microsoft.com/office/drawing/2014/main" id="{70B14370-6E00-2D68-940B-9B4C4C11EA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818" y="3166538"/>
            <a:ext cx="2130602" cy="2130602"/>
          </a:xfrm>
          <a:prstGeom prst="rect">
            <a:avLst/>
          </a:prstGeom>
        </p:spPr>
      </p:pic>
      <p:pic>
        <p:nvPicPr>
          <p:cNvPr id="36" name="Graphic 35" descr="Handshake with solid fill">
            <a:extLst>
              <a:ext uri="{FF2B5EF4-FFF2-40B4-BE49-F238E27FC236}">
                <a16:creationId xmlns:a16="http://schemas.microsoft.com/office/drawing/2014/main" id="{E3487283-CD28-0067-FB87-3B563AFB00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963" y="2130443"/>
            <a:ext cx="736636" cy="736636"/>
          </a:xfrm>
          <a:prstGeom prst="rect">
            <a:avLst/>
          </a:prstGeom>
        </p:spPr>
      </p:pic>
      <p:pic>
        <p:nvPicPr>
          <p:cNvPr id="38" name="Graphic 37" descr="Circles with arrows with solid fill">
            <a:extLst>
              <a:ext uri="{FF2B5EF4-FFF2-40B4-BE49-F238E27FC236}">
                <a16:creationId xmlns:a16="http://schemas.microsoft.com/office/drawing/2014/main" id="{6EB631DC-603E-8FFA-ED5A-47E9219F36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73890" y="2130443"/>
            <a:ext cx="719189" cy="719189"/>
          </a:xfrm>
          <a:prstGeom prst="rect">
            <a:avLst/>
          </a:prstGeom>
        </p:spPr>
      </p:pic>
      <p:pic>
        <p:nvPicPr>
          <p:cNvPr id="42" name="Graphic 41" descr="Collision with solid fill">
            <a:extLst>
              <a:ext uri="{FF2B5EF4-FFF2-40B4-BE49-F238E27FC236}">
                <a16:creationId xmlns:a16="http://schemas.microsoft.com/office/drawing/2014/main" id="{3A688170-B918-ED8B-3FE0-D2B103E58F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15000" y="2130443"/>
            <a:ext cx="717533" cy="71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3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D2D67D-DDA3-2EB7-4EF3-29082A96E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49674"/>
            <a:ext cx="4284420" cy="1687143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Art Precedent</a:t>
            </a:r>
            <a:endParaRPr lang="en-CA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642750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0D96F-6B76-BC89-A103-5D9C2BE01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23" y="849869"/>
            <a:ext cx="4293313" cy="1486948"/>
          </a:xfrm>
        </p:spPr>
        <p:txBody>
          <a:bodyPr>
            <a:normAutofit/>
          </a:bodyPr>
          <a:lstStyle/>
          <a:p>
            <a:r>
              <a:rPr lang="en-US" sz="1600">
                <a:hlinkClick r:id="rId2"/>
              </a:rPr>
              <a:t>14 Collective - Solarpunk platformer tileset</a:t>
            </a:r>
            <a:endParaRPr lang="en-US" sz="1600"/>
          </a:p>
          <a:p>
            <a:r>
              <a:rPr lang="en-US" sz="1600">
                <a:hlinkClick r:id="rId3"/>
              </a:rPr>
              <a:t>Foozle - Sci-fi Lab Tileset</a:t>
            </a:r>
            <a:endParaRPr lang="en-US" sz="1600"/>
          </a:p>
          <a:p>
            <a:r>
              <a:rPr lang="en-US" sz="1600">
                <a:hlinkClick r:id="rId3"/>
              </a:rPr>
              <a:t>Zephyrix - Ronny's Climb</a:t>
            </a:r>
            <a:endParaRPr lang="en-CA" sz="1600"/>
          </a:p>
          <a:p>
            <a:endParaRPr lang="en-CA" sz="1600"/>
          </a:p>
          <a:p>
            <a:endParaRPr lang="en-CA" sz="1600"/>
          </a:p>
        </p:txBody>
      </p:sp>
      <p:pic>
        <p:nvPicPr>
          <p:cNvPr id="6" name="Picture 4" descr="r/godot - Ronny's Climb, a furry themed pixel art platformer">
            <a:extLst>
              <a:ext uri="{FF2B5EF4-FFF2-40B4-BE49-F238E27FC236}">
                <a16:creationId xmlns:a16="http://schemas.microsoft.com/office/drawing/2014/main" id="{9CE70FCF-A7FD-172A-DEB2-7A82FBAC3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6" b="-5"/>
          <a:stretch>
            <a:fillRect/>
          </a:stretch>
        </p:blipFill>
        <p:spPr bwMode="auto">
          <a:xfrm>
            <a:off x="1155561" y="2632130"/>
            <a:ext cx="4940443" cy="357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BB89B34-6ACF-2322-78ED-6B9798E21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" r="10592" b="8"/>
          <a:stretch>
            <a:fillRect/>
          </a:stretch>
        </p:blipFill>
        <p:spPr bwMode="auto">
          <a:xfrm>
            <a:off x="6096000" y="2632134"/>
            <a:ext cx="4949342" cy="1792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B00E20-8B90-CA22-E597-092B326751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4" b="35160"/>
          <a:stretch>
            <a:fillRect/>
          </a:stretch>
        </p:blipFill>
        <p:spPr>
          <a:xfrm>
            <a:off x="6095996" y="4424362"/>
            <a:ext cx="4949342" cy="178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416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313</Words>
  <Application>Microsoft Office PowerPoint</Application>
  <PresentationFormat>Widescreen</PresentationFormat>
  <Paragraphs>67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Gameplay precedent</vt:lpstr>
      <vt:lpstr>PowerPoint Presentation</vt:lpstr>
      <vt:lpstr>Art Precedent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Wesley Parrish</dc:creator>
  <cp:lastModifiedBy>Wesley Parrish</cp:lastModifiedBy>
  <cp:revision>5</cp:revision>
  <dcterms:created xsi:type="dcterms:W3CDTF">2025-11-19T22:17:33Z</dcterms:created>
  <dcterms:modified xsi:type="dcterms:W3CDTF">2025-11-21T01:33:07Z</dcterms:modified>
</cp:coreProperties>
</file>